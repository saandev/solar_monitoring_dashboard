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Progress review of the assignment 'Spectropolarimetric Observations of Solar Radio Bursts using Log-Periodic Antenna and Long Wave Antenna Systems'. This presentation covers the software deliverables from May to September 2026 and the plan for October to December.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of the eight monthly milestones are complete. The software platform is running end to end; October to December is integration, AI detection and documentation.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Collect once on a schedule, store in TimescaleDB, serve through Redis, and fall back to a live fetch only when the database has a gap.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August deliverable — a common interface monitoring dashboard — is in place and running.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July's prototype web interface for CALLISTO data, extended through August and September into the full radio module.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November deliverable — AI classification for CALLISTO data — is already running in the dashboard. Types are reported as estimates.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October's integration deliverable — GOES X-ray, SGPS proton, Dst and Kp alongside the radio data — is substantially complete; the remaining work is tuning and continuous-operation hardening.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H-alpha ingestion is the piece still outstanding here — the imaging and measurement tooling it will plug into is already built.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monthly deliverables complete. September is complete apart from H-alpha data ingestion, which depends on access to the H-alpha system's output.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slide — the December target from the work plan, and the six workstreams that get there.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371600"/>
            <a:ext cx="5669280" cy="5669280"/>
          </a:xfrm>
          <a:prstGeom prst="ellipse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46920" y="-228600"/>
            <a:ext cx="2331720" cy="2331720"/>
          </a:xfrm>
          <a:prstGeom prst="ellipse">
            <a:avLst/>
          </a:prstGeom>
          <a:solidFill>
            <a:srgbClr val="E8912D"/>
          </a:solidFill>
          <a:ln w="12700">
            <a:solidFill>
              <a:srgbClr val="E8912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6916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91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REVIEW · MAY – SEPTEMBER 2026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103120"/>
            <a:ext cx="80467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Solar &amp; Space Weather</a:t>
            </a:r>
            <a:endParaRPr lang="en-US" sz="4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Monitoring Dashboard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88620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9C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common web interface for e-CALLISTO solar radio observations, H-alpha / solar imaging and multi-parameter space weather data.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4892040"/>
            <a:ext cx="7498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G. L. S. S. Liyanage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B9C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Scientist · Space Applications Division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B9C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Arthur C. Clarke Institute for Modern Technologies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rgbClr val="8FA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Supervisor: Mr. Saraj Gunasekera, Principal Research Scientist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91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· MAY – DECEMBER 2026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911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we are on the plan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008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7A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ACCIMT · Space Applications Division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002975" y="640080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7A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371600"/>
            <a:ext cx="10911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Assignment: Spectropolarimetric observations of solar radio bursts using log-periodic and long-wave antenna systems. The software component is a modern acquisition, archiving, monitoring and visualisation platform for CALLISTO and space weather data.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807208"/>
            <a:ext cx="10911535" cy="32004"/>
          </a:xfrm>
          <a:prstGeom prst="rect">
            <a:avLst/>
          </a:prstGeom>
          <a:solidFill>
            <a:srgbClr val="DCE3EE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2807208"/>
            <a:ext cx="6819710" cy="32004"/>
          </a:xfrm>
          <a:prstGeom prst="rect">
            <a:avLst/>
          </a:prstGeom>
          <a:solidFill>
            <a:srgbClr val="E8912D"/>
          </a:solidFill>
          <a:ln w="12700">
            <a:solidFill>
              <a:srgbClr val="E8912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2331720"/>
            <a:ext cx="136394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221467" y="2715768"/>
            <a:ext cx="201168" cy="201168"/>
          </a:xfrm>
          <a:prstGeom prst="ellipse">
            <a:avLst/>
          </a:prstGeom>
          <a:solidFill>
            <a:srgbClr val="E8912D"/>
          </a:solidFill>
          <a:ln w="25400">
            <a:solidFill>
              <a:srgbClr val="E8912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94360" y="3044952"/>
            <a:ext cx="145538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7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7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2004022" y="2331720"/>
            <a:ext cx="136394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585409" y="2715768"/>
            <a:ext cx="201168" cy="201168"/>
          </a:xfrm>
          <a:prstGeom prst="ellipse">
            <a:avLst/>
          </a:prstGeom>
          <a:solidFill>
            <a:srgbClr val="E8912D"/>
          </a:solidFill>
          <a:ln w="25400">
            <a:solidFill>
              <a:srgbClr val="E8912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958302" y="3044952"/>
            <a:ext cx="145538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7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&amp;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7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3367964" y="2331720"/>
            <a:ext cx="136394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949351" y="2715768"/>
            <a:ext cx="201168" cy="201168"/>
          </a:xfrm>
          <a:prstGeom prst="ellipse">
            <a:avLst/>
          </a:prstGeom>
          <a:solidFill>
            <a:srgbClr val="E8912D"/>
          </a:solidFill>
          <a:ln w="25400">
            <a:solidFill>
              <a:srgbClr val="E8912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322244" y="3044952"/>
            <a:ext cx="145538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7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web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7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4731906" y="2331720"/>
            <a:ext cx="136394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313293" y="2715768"/>
            <a:ext cx="201168" cy="201168"/>
          </a:xfrm>
          <a:prstGeom prst="ellipse">
            <a:avLst/>
          </a:prstGeom>
          <a:solidFill>
            <a:srgbClr val="E8912D"/>
          </a:solidFill>
          <a:ln w="25400">
            <a:solidFill>
              <a:srgbClr val="E8912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686186" y="3044952"/>
            <a:ext cx="145538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7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monitoring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7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6095848" y="2331720"/>
            <a:ext cx="136394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677235" y="2715768"/>
            <a:ext cx="201168" cy="201168"/>
          </a:xfrm>
          <a:prstGeom prst="ellipse">
            <a:avLst/>
          </a:prstGeom>
          <a:solidFill>
            <a:srgbClr val="E8912D"/>
          </a:solidFill>
          <a:ln w="25400">
            <a:solidFill>
              <a:srgbClr val="E8912D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050128" y="3044952"/>
            <a:ext cx="145538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7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H-alpha &amp; imaging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7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visualisation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7459790" y="2331720"/>
            <a:ext cx="136394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D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041176" y="2715768"/>
            <a:ext cx="201168" cy="2011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B8C4D4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414069" y="3044952"/>
            <a:ext cx="145538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D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Multi-parameter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D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8823731" y="2331720"/>
            <a:ext cx="136394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D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9405118" y="2715768"/>
            <a:ext cx="201168" cy="2011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B8C4D4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778011" y="3044952"/>
            <a:ext cx="145538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D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burst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D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950" dirty="0"/>
          </a:p>
        </p:txBody>
      </p:sp>
      <p:sp>
        <p:nvSpPr>
          <p:cNvPr id="30" name="Text 28"/>
          <p:cNvSpPr txBox="1"/>
          <p:nvPr/>
        </p:nvSpPr>
        <p:spPr>
          <a:xfrm>
            <a:off x="10187673" y="2331720"/>
            <a:ext cx="136394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D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10769060" y="2715768"/>
            <a:ext cx="201168" cy="2011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B8C4D4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0141953" y="3044952"/>
            <a:ext cx="145538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D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platform &amp;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D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6819710" y="3657600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891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we are here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40080" y="4343400"/>
            <a:ext cx="2419274" cy="1371600"/>
          </a:xfrm>
          <a:prstGeom prst="roundRect">
            <a:avLst>
              <a:gd name="adj" fmla="val 4000"/>
            </a:avLst>
          </a:prstGeom>
          <a:solidFill>
            <a:srgbClr val="F1F4F9"/>
          </a:solidFill>
          <a:ln w="12700">
            <a:solidFill>
              <a:srgbClr val="E2E8F2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68680" y="4498848"/>
            <a:ext cx="196207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4000" dirty="0"/>
          </a:p>
        </p:txBody>
      </p:sp>
      <p:sp>
        <p:nvSpPr>
          <p:cNvPr id="36" name="Text 34"/>
          <p:cNvSpPr txBox="1"/>
          <p:nvPr/>
        </p:nvSpPr>
        <p:spPr>
          <a:xfrm>
            <a:off x="868680" y="5138928"/>
            <a:ext cx="196207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pages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D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470834" y="4343400"/>
            <a:ext cx="2419274" cy="1371600"/>
          </a:xfrm>
          <a:prstGeom prst="roundRect">
            <a:avLst>
              <a:gd name="adj" fmla="val 4000"/>
            </a:avLst>
          </a:prstGeom>
          <a:solidFill>
            <a:srgbClr val="F1F4F9"/>
          </a:solidFill>
          <a:ln w="12700">
            <a:solidFill>
              <a:srgbClr val="E2E8F2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3699434" y="4498848"/>
            <a:ext cx="196207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4000" dirty="0"/>
          </a:p>
        </p:txBody>
      </p:sp>
      <p:sp>
        <p:nvSpPr>
          <p:cNvPr id="39" name="Text 37"/>
          <p:cNvSpPr txBox="1"/>
          <p:nvPr/>
        </p:nvSpPr>
        <p:spPr>
          <a:xfrm>
            <a:off x="3699434" y="5138928"/>
            <a:ext cx="196207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data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D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collectors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301588" y="4343400"/>
            <a:ext cx="2419274" cy="1371600"/>
          </a:xfrm>
          <a:prstGeom prst="roundRect">
            <a:avLst>
              <a:gd name="adj" fmla="val 4000"/>
            </a:avLst>
          </a:prstGeom>
          <a:solidFill>
            <a:srgbClr val="F1F4F9"/>
          </a:solidFill>
          <a:ln w="12700">
            <a:solidFill>
              <a:srgbClr val="E2E8F2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530188" y="4498848"/>
            <a:ext cx="196207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000" dirty="0"/>
          </a:p>
        </p:txBody>
      </p:sp>
      <p:sp>
        <p:nvSpPr>
          <p:cNvPr id="42" name="Text 40"/>
          <p:cNvSpPr txBox="1"/>
          <p:nvPr/>
        </p:nvSpPr>
        <p:spPr>
          <a:xfrm>
            <a:off x="6530188" y="5138928"/>
            <a:ext cx="196207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ML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D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burst models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9132341" y="4343400"/>
            <a:ext cx="2419274" cy="1371600"/>
          </a:xfrm>
          <a:prstGeom prst="roundRect">
            <a:avLst>
              <a:gd name="adj" fmla="val 4000"/>
            </a:avLst>
          </a:prstGeom>
          <a:solidFill>
            <a:srgbClr val="F1F4F9"/>
          </a:solidFill>
          <a:ln w="12700">
            <a:solidFill>
              <a:srgbClr val="E2E8F2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9360941" y="4498848"/>
            <a:ext cx="196207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/ 8</a:t>
            </a:r>
            <a:endParaRPr lang="en-US" sz="4000" dirty="0"/>
          </a:p>
        </p:txBody>
      </p:sp>
      <p:sp>
        <p:nvSpPr>
          <p:cNvPr id="45" name="Text 43"/>
          <p:cNvSpPr txBox="1"/>
          <p:nvPr/>
        </p:nvSpPr>
        <p:spPr>
          <a:xfrm>
            <a:off x="9360941" y="5138928"/>
            <a:ext cx="196207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milestones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D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91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IS BUILT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911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008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7A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ACCIMT · Space Applications Division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002975" y="640080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7A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600200"/>
            <a:ext cx="2419274" cy="3703320"/>
          </a:xfrm>
          <a:prstGeom prst="roundRect">
            <a:avLst>
              <a:gd name="adj" fmla="val 2268"/>
            </a:avLst>
          </a:prstGeom>
          <a:solidFill>
            <a:srgbClr val="FAFCFF"/>
          </a:solidFill>
          <a:ln w="12700">
            <a:solidFill>
              <a:srgbClr val="E2E8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600200"/>
            <a:ext cx="2419274" cy="457200"/>
          </a:xfrm>
          <a:prstGeom prst="roundRect">
            <a:avLst>
              <a:gd name="adj" fmla="val 12000"/>
            </a:avLst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04672" y="1609344"/>
            <a:ext cx="209009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sources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185416"/>
            <a:ext cx="209009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000" dirty="0">
                <a:solidFill>
                  <a:srgbClr val="17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e-CALLISTO FITS archive, ACCIMT Sri Lanka prioritised</a:t>
            </a:r>
            <a:endParaRPr lang="en-US" sz="1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000" dirty="0">
                <a:solidFill>
                  <a:srgbClr val="17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NOAA SWPC: GOES X-ray, proton, electron, magnetometer</a:t>
            </a:r>
            <a:endParaRPr lang="en-US" sz="1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000" dirty="0">
                <a:solidFill>
                  <a:srgbClr val="17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SDO/AIA, HMI and GOES/SUVI full-disk imagery</a:t>
            </a:r>
            <a:endParaRPr lang="en-US" sz="1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000" dirty="0">
                <a:solidFill>
                  <a:srgbClr val="17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SOHO/LASCO C2 and C3 coronagraph frames</a:t>
            </a:r>
            <a:endParaRPr lang="en-US" sz="1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000" dirty="0">
                <a:solidFill>
                  <a:srgbClr val="17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Kyoto WDC Dst, planetary Kp, F10.7, sunspot number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123362" y="3291840"/>
            <a:ext cx="283464" cy="219456"/>
          </a:xfrm>
          <a:prstGeom prst="rightArrow">
            <a:avLst/>
          </a:prstGeom>
          <a:solidFill>
            <a:srgbClr val="C3CEDC"/>
          </a:solidFill>
          <a:ln w="12700">
            <a:solidFill>
              <a:srgbClr val="C3CED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70834" y="1600200"/>
            <a:ext cx="2419274" cy="3703320"/>
          </a:xfrm>
          <a:prstGeom prst="roundRect">
            <a:avLst>
              <a:gd name="adj" fmla="val 2268"/>
            </a:avLst>
          </a:prstGeom>
          <a:solidFill>
            <a:srgbClr val="FAFCFF"/>
          </a:solidFill>
          <a:ln w="12700">
            <a:solidFill>
              <a:srgbClr val="E2E8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70834" y="1600200"/>
            <a:ext cx="2419274" cy="457200"/>
          </a:xfrm>
          <a:prstGeom prst="roundRect">
            <a:avLst>
              <a:gd name="adj" fmla="val 12000"/>
            </a:avLst>
          </a:prstGeom>
          <a:solidFill>
            <a:srgbClr val="0E1A2B"/>
          </a:solidFill>
          <a:ln w="12700">
            <a:solidFill>
              <a:srgbClr val="0E1A2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635426" y="1609344"/>
            <a:ext cx="209009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— FastAPI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3653714" y="2185416"/>
            <a:ext cx="209009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000" dirty="0">
                <a:solidFill>
                  <a:srgbClr val="17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scheduled collectors (APScheduler, UTC throughout)</a:t>
            </a:r>
            <a:endParaRPr lang="en-US" sz="1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000" dirty="0">
                <a:solidFill>
                  <a:srgbClr val="17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FITS loading, RFI cleaning, background subtraction</a:t>
            </a:r>
            <a:endParaRPr lang="en-US" sz="1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000" dirty="0">
                <a:solidFill>
                  <a:srgbClr val="17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Burst, event and shock detection modules</a:t>
            </a:r>
            <a:endParaRPr lang="en-US" sz="1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000" dirty="0">
                <a:solidFill>
                  <a:srgbClr val="17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PyTorch inference (ResNet-18 classifiers)</a:t>
            </a:r>
            <a:endParaRPr lang="en-US" sz="1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000" dirty="0">
                <a:solidFill>
                  <a:srgbClr val="17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REST route groups, OpenAPI documented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54116" y="3291840"/>
            <a:ext cx="283464" cy="219456"/>
          </a:xfrm>
          <a:prstGeom prst="rightArrow">
            <a:avLst/>
          </a:prstGeom>
          <a:solidFill>
            <a:srgbClr val="C3CEDC"/>
          </a:solidFill>
          <a:ln w="12700">
            <a:solidFill>
              <a:srgbClr val="C3CED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01588" y="1600200"/>
            <a:ext cx="2419274" cy="3703320"/>
          </a:xfrm>
          <a:prstGeom prst="roundRect">
            <a:avLst>
              <a:gd name="adj" fmla="val 2268"/>
            </a:avLst>
          </a:prstGeom>
          <a:solidFill>
            <a:srgbClr val="FAFCFF"/>
          </a:solidFill>
          <a:ln w="12700">
            <a:solidFill>
              <a:srgbClr val="E2E8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01588" y="1600200"/>
            <a:ext cx="2419274" cy="457200"/>
          </a:xfrm>
          <a:prstGeom prst="roundRect">
            <a:avLst>
              <a:gd name="adj" fmla="val 12000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66180" y="1609344"/>
            <a:ext cx="209009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&amp; cache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484468" y="2185416"/>
            <a:ext cx="209009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000" dirty="0">
                <a:solidFill>
                  <a:srgbClr val="17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+ TimescaleDB hypertables for time series</a:t>
            </a:r>
            <a:endParaRPr lang="en-US" sz="1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000" dirty="0">
                <a:solidFill>
                  <a:srgbClr val="17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cache in front of live fetches and DB reads</a:t>
            </a:r>
            <a:endParaRPr lang="en-US" sz="1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000" dirty="0">
                <a:solidFill>
                  <a:srgbClr val="17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products (FITS, spectra, images) kept on disk</a:t>
            </a:r>
            <a:endParaRPr lang="en-US" sz="1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000" dirty="0">
                <a:solidFill>
                  <a:srgbClr val="17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and file paths held in the database</a:t>
            </a:r>
            <a:endParaRPr lang="en-US" sz="1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000" dirty="0">
                <a:solidFill>
                  <a:srgbClr val="17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Alembic migrations — 11 applied to date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784869" y="3291840"/>
            <a:ext cx="283464" cy="219456"/>
          </a:xfrm>
          <a:prstGeom prst="rightArrow">
            <a:avLst/>
          </a:prstGeom>
          <a:solidFill>
            <a:srgbClr val="C3CEDC"/>
          </a:solidFill>
          <a:ln w="12700">
            <a:solidFill>
              <a:srgbClr val="C3CED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132341" y="1600200"/>
            <a:ext cx="2419274" cy="3703320"/>
          </a:xfrm>
          <a:prstGeom prst="roundRect">
            <a:avLst>
              <a:gd name="adj" fmla="val 2268"/>
            </a:avLst>
          </a:prstGeom>
          <a:solidFill>
            <a:srgbClr val="FAFCFF"/>
          </a:solidFill>
          <a:ln w="12700">
            <a:solidFill>
              <a:srgbClr val="E2E8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132341" y="1600200"/>
            <a:ext cx="2419274" cy="457200"/>
          </a:xfrm>
          <a:prstGeom prst="roundRect">
            <a:avLst>
              <a:gd name="adj" fmla="val 12000"/>
            </a:avLst>
          </a:prstGeom>
          <a:solidFill>
            <a:srgbClr val="E8912D"/>
          </a:solidFill>
          <a:ln w="12700">
            <a:solidFill>
              <a:srgbClr val="E8912D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296933" y="1609344"/>
            <a:ext cx="209009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— Next.js 14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9315221" y="2185416"/>
            <a:ext cx="209009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000" dirty="0">
                <a:solidFill>
                  <a:srgbClr val="17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TypeScript, Tailwind CSS and Plotly.js</a:t>
            </a:r>
            <a:endParaRPr lang="en-US" sz="1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000" dirty="0">
                <a:solidFill>
                  <a:srgbClr val="17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pages: overview, radio, analyzer, imaging</a:t>
            </a:r>
            <a:endParaRPr lang="en-US" sz="1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000" dirty="0">
                <a:solidFill>
                  <a:srgbClr val="17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Forecast, timeline, archive and settings</a:t>
            </a:r>
            <a:endParaRPr lang="en-US" sz="1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000" dirty="0">
                <a:solidFill>
                  <a:srgbClr val="17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SWR polling keeps live panels current</a:t>
            </a:r>
            <a:endParaRPr lang="en-US" sz="1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000" dirty="0">
                <a:solidFill>
                  <a:srgbClr val="17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and dark themes, responsive layout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640080" y="553212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D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as four Docker Compose services — frontend, backend, PostgreSQL/TimescaleDB, Redis — so the whole stack starts with a single command on the observatory machine.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91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 · COMMON INTERFACE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911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monitoring dashboard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008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7A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ACCIMT · Space Applications Division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002975" y="640080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7A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85216" y="1426464"/>
            <a:ext cx="7059168" cy="4315968"/>
          </a:xfrm>
          <a:prstGeom prst="roundRect">
            <a:avLst>
              <a:gd name="adj" fmla="val 847"/>
            </a:avLst>
          </a:prstGeom>
          <a:solidFill>
            <a:srgbClr val="F1F4F9"/>
          </a:solidFill>
          <a:ln w="12700">
            <a:solidFill>
              <a:srgbClr val="D8E0EC"/>
            </a:solidFill>
            <a:prstDash val="solid"/>
          </a:ln>
          <a:effectLst>
            <a:outerShdw sx="100000" sy="100000" kx="0" ky="0" algn="bl" rotWithShape="0" blurRad="127000" dist="25400" dir="5400000">
              <a:srgbClr val="8A96A8">
                <a:alpha val="2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40080" y="1481328"/>
            <a:ext cx="69494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screenshot: overview.png ]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5815584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D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— single-screen status of the Sun and near-Earth space, all times in UTC.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092440" y="1572768"/>
            <a:ext cx="384048" cy="384048"/>
          </a:xfrm>
          <a:prstGeom prst="ellipse">
            <a:avLst/>
          </a:prstGeom>
          <a:solidFill>
            <a:srgbClr val="E8912D"/>
          </a:solidFill>
          <a:ln w="12700">
            <a:solidFill>
              <a:srgbClr val="E8912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092440" y="1572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8622792" y="1591056"/>
            <a:ext cx="292882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at a glance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8622792" y="1901952"/>
            <a:ext cx="2928823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D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X-ray class, &gt;10 MeV proton flux, Kp, Dst, solar wind and active alerts in one strip, refreshed automatically.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092440" y="3054096"/>
            <a:ext cx="384048" cy="384048"/>
          </a:xfrm>
          <a:prstGeom prst="ellipse">
            <a:avLst/>
          </a:prstGeom>
          <a:solidFill>
            <a:srgbClr val="E8912D"/>
          </a:solidFill>
          <a:ln w="12700">
            <a:solidFill>
              <a:srgbClr val="E8912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092440" y="30540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8622792" y="3072384"/>
            <a:ext cx="292882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dynamic spectrum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622792" y="3383280"/>
            <a:ext cx="2928823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D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ACCIMT / Sri Lanka CALLISTO feed rendered continuously, with detected bursts pinned on the spectrum.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092440" y="4535424"/>
            <a:ext cx="384048" cy="384048"/>
          </a:xfrm>
          <a:prstGeom prst="ellipse">
            <a:avLst/>
          </a:prstGeom>
          <a:solidFill>
            <a:srgbClr val="E8912D"/>
          </a:solidFill>
          <a:ln w="12700">
            <a:solidFill>
              <a:srgbClr val="E8912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092440" y="45354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8622792" y="4553712"/>
            <a:ext cx="292882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else one click away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8622792" y="4864608"/>
            <a:ext cx="2928823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D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pages covering radio, imaging, coronagraph, geomagnetic, forecast, timeline and archive.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91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 · JULY – SEPTEMBER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911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e-CALLISTO solar radio module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008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7A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ACCIMT · Space Applications Division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002975" y="640080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7A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85216" y="1426464"/>
            <a:ext cx="7059168" cy="4315968"/>
          </a:xfrm>
          <a:prstGeom prst="roundRect">
            <a:avLst>
              <a:gd name="adj" fmla="val 847"/>
            </a:avLst>
          </a:prstGeom>
          <a:solidFill>
            <a:srgbClr val="F1F4F9"/>
          </a:solidFill>
          <a:ln w="12700">
            <a:solidFill>
              <a:srgbClr val="D8E0EC"/>
            </a:solidFill>
            <a:prstDash val="solid"/>
          </a:ln>
          <a:effectLst>
            <a:outerShdw sx="100000" sy="100000" kx="0" ky="0" algn="bl" rotWithShape="0" blurRad="127000" dist="25400" dir="5400000">
              <a:srgbClr val="8A96A8">
                <a:alpha val="2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40080" y="1481328"/>
            <a:ext cx="69494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screenshot: solar-radio.png ]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5815584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D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Radio — dynamic spectra from the e-CALLISTO network with station selection and processing controls.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8092440" y="1600200"/>
            <a:ext cx="3459175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7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FITS files read directly from the e-CALLISTO archive, with the ACCIMT Sri Lanka station prioritised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7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subtraction and RFI cleaning applied before display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7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Frequency–time dynamic spectra rendered interactively (zoom, range, station compare)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7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burst list ingested and cross-checked against detections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7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Analyzer page for uploaded FITS: manual burst selection, drift-rate and shock-speed analysis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092440" y="4846320"/>
            <a:ext cx="3459175" cy="1051560"/>
          </a:xfrm>
          <a:prstGeom prst="roundRect">
            <a:avLst>
              <a:gd name="adj" fmla="val 5217"/>
            </a:avLst>
          </a:prstGeom>
          <a:solidFill>
            <a:srgbClr val="F1F4F9"/>
          </a:solidFill>
          <a:ln w="12700">
            <a:solidFill>
              <a:srgbClr val="E2E8F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93608" y="4956048"/>
            <a:ext cx="3056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91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8293608" y="5193792"/>
            <a:ext cx="30568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7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Observations that previously required manual file handling are now viewable and reducible in the browser, by students and collaborators alike.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91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AHEAD OF SCHEDULE · PLANNED FOR NOVEMBER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911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AI-based burst detection and classification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008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7A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ACCIMT · Space Applications Division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002975" y="640080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7A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85216" y="1389888"/>
            <a:ext cx="6464808" cy="3236976"/>
          </a:xfrm>
          <a:prstGeom prst="roundRect">
            <a:avLst>
              <a:gd name="adj" fmla="val 1130"/>
            </a:avLst>
          </a:prstGeom>
          <a:solidFill>
            <a:srgbClr val="F1F4F9"/>
          </a:solidFill>
          <a:ln w="12700">
            <a:solidFill>
              <a:srgbClr val="D8E0EC"/>
            </a:solidFill>
            <a:prstDash val="solid"/>
          </a:ln>
          <a:effectLst>
            <a:outerShdw sx="100000" sy="100000" kx="0" ky="0" algn="bl" rotWithShape="0" blurRad="127000" dist="25400" dir="5400000">
              <a:srgbClr val="8A96A8">
                <a:alpha val="2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40080" y="1444752"/>
            <a:ext cx="6355080" cy="3127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screenshot: burst-detector.png ]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4700016"/>
            <a:ext cx="6355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D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Burst Detector — model selection, scan window and detections with confidence.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60920" y="1572768"/>
            <a:ext cx="4190695" cy="1024128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562088" y="1901952"/>
            <a:ext cx="347472" cy="347472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037576" y="1737360"/>
            <a:ext cx="33220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CCM v1.1.0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8037576" y="2011680"/>
            <a:ext cx="33220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D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burst / no-burst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8037576" y="2249424"/>
            <a:ext cx="33220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F1  0.932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360920" y="2724912"/>
            <a:ext cx="4190695" cy="1024128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562088" y="3054096"/>
            <a:ext cx="347472" cy="347472"/>
          </a:xfrm>
          <a:prstGeom prst="ellipse">
            <a:avLst/>
          </a:prstGeom>
          <a:solidFill>
            <a:srgbClr val="E8912D"/>
          </a:solidFill>
          <a:ln w="12700">
            <a:solidFill>
              <a:srgbClr val="E8912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037576" y="2889504"/>
            <a:ext cx="33220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CCMT v1.0.0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8037576" y="3163824"/>
            <a:ext cx="33220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D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II / III / other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8037576" y="3401568"/>
            <a:ext cx="33220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91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 0.966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360920" y="3877056"/>
            <a:ext cx="4190695" cy="1024128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562088" y="4206240"/>
            <a:ext cx="347472" cy="347472"/>
          </a:xfrm>
          <a:prstGeom prst="ellipse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037576" y="4041648"/>
            <a:ext cx="33220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CCM v1.0.0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8037576" y="4315968"/>
            <a:ext cx="33220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D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baseline, kept selectable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8037576" y="4553712"/>
            <a:ext cx="33220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 0.595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5029200"/>
            <a:ext cx="109728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7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ResNet-18 classifiers run natively inside the backend — no separate service to keep alive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7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scanner scores the live archive on a schedule; an offline catch-up fills days missed during downtime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7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Detections are de-duplicated per model, so a retrained model can be swapped in without losing comparability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7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Burst-positive segments are cropped and typed; regions outside the classifier's training distribution are left untyped rather than guessed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91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 · OCTOBER, LARGELY IN PLACE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911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Multi-parameter space weather integration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008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7A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ACCIMT · Space Applications Division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002975" y="640080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7A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85216" y="1426464"/>
            <a:ext cx="7059168" cy="3950208"/>
          </a:xfrm>
          <a:prstGeom prst="roundRect">
            <a:avLst>
              <a:gd name="adj" fmla="val 926"/>
            </a:avLst>
          </a:prstGeom>
          <a:solidFill>
            <a:srgbClr val="F1F4F9"/>
          </a:solidFill>
          <a:ln w="12700">
            <a:solidFill>
              <a:srgbClr val="D8E0EC"/>
            </a:solidFill>
            <a:prstDash val="solid"/>
          </a:ln>
          <a:effectLst>
            <a:outerShdw sx="100000" sy="100000" kx="0" ky="0" algn="bl" rotWithShape="0" blurRad="127000" dist="25400" dir="5400000">
              <a:srgbClr val="8A96A8">
                <a:alpha val="2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40080" y="1481328"/>
            <a:ext cx="69494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screenshot: timeline.png ]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5449824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D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— radio bursts, flares, CMEs and geomagnetic response on one axis, linked into event storylines.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092440" y="1600200"/>
            <a:ext cx="1051560" cy="292608"/>
          </a:xfrm>
          <a:prstGeom prst="roundRect">
            <a:avLst>
              <a:gd name="adj" fmla="val 31250"/>
            </a:avLst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092440" y="1600200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8092440" y="1965960"/>
            <a:ext cx="34591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7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GOES XRS X-ray flux with flare classes · SDO/AIA and HMI imagery · SOHO/LASCO C2 &amp; C3 · sunspot number · F10.7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092440" y="2788920"/>
            <a:ext cx="1051560" cy="292608"/>
          </a:xfrm>
          <a:prstGeom prst="roundRect">
            <a:avLst>
              <a:gd name="adj" fmla="val 31250"/>
            </a:avLst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092440" y="2788920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Particles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8092440" y="3154680"/>
            <a:ext cx="34591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7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GOES proton and electron flux, multiple energy channels · magnetometer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092440" y="3977640"/>
            <a:ext cx="1051560" cy="292608"/>
          </a:xfrm>
          <a:prstGeom prst="roundRect">
            <a:avLst>
              <a:gd name="adj" fmla="val 31250"/>
            </a:avLst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092440" y="3977640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Geospace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8092440" y="4343400"/>
            <a:ext cx="34591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7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Planetary Kp · Dst index · solar wind speed, density and IMF Bz / Bt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092440" y="5166360"/>
            <a:ext cx="1051560" cy="292608"/>
          </a:xfrm>
          <a:prstGeom prst="roundRect">
            <a:avLst>
              <a:gd name="adj" fmla="val 31250"/>
            </a:avLst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092440" y="5166360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8092440" y="5532120"/>
            <a:ext cx="34591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7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NOAA 3-day outlook and NOAA scales · predicted Kp · DONKI CME catalogue with transit estimates · aurora outlook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580644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D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are derived from the ingested series every ten minutes and chained into storylines — flare → CME → radio burst → geomagnetic storm — with alerts and notifications on the significant ones.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91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 · SEPTEMBER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911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Imaging and analysis tools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008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7A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ACCIMT · Space Applications Division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002975" y="640080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7A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85216" y="1426464"/>
            <a:ext cx="5504688" cy="3127248"/>
          </a:xfrm>
          <a:prstGeom prst="roundRect">
            <a:avLst>
              <a:gd name="adj" fmla="val 1170"/>
            </a:avLst>
          </a:prstGeom>
          <a:solidFill>
            <a:srgbClr val="F1F4F9"/>
          </a:solidFill>
          <a:ln w="12700">
            <a:solidFill>
              <a:srgbClr val="D8E0EC"/>
            </a:solidFill>
            <a:prstDash val="solid"/>
          </a:ln>
          <a:effectLst>
            <a:outerShdw sx="100000" sy="100000" kx="0" ky="0" algn="bl" rotWithShape="0" blurRad="127000" dist="25400" dir="5400000">
              <a:srgbClr val="8A96A8">
                <a:alpha val="2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40080" y="1481328"/>
            <a:ext cx="53949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screenshot: data-analysis.png ]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4626864"/>
            <a:ext cx="5394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D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 — multi-mission solar image analysis.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391656" y="1426464"/>
            <a:ext cx="5212080" cy="3127248"/>
          </a:xfrm>
          <a:prstGeom prst="roundRect">
            <a:avLst>
              <a:gd name="adj" fmla="val 1170"/>
            </a:avLst>
          </a:prstGeom>
          <a:solidFill>
            <a:srgbClr val="F1F4F9"/>
          </a:solidFill>
          <a:ln w="12700">
            <a:solidFill>
              <a:srgbClr val="D8E0EC"/>
            </a:solidFill>
            <a:prstDash val="solid"/>
          </a:ln>
          <a:effectLst>
            <a:outerShdw sx="100000" sy="100000" kx="0" ky="0" algn="bl" rotWithShape="0" blurRad="127000" dist="25400" dir="5400000">
              <a:srgbClr val="8A96A8">
                <a:alpha val="2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446520" y="1481328"/>
            <a:ext cx="5102352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D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screenshot: analyzer.png ]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446520" y="4626864"/>
            <a:ext cx="5102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D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e-CALLISTO Analyzer — shock analysis on an imported spectrum.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0080" y="5029200"/>
            <a:ext cx="3332378" cy="1188720"/>
          </a:xfrm>
          <a:prstGeom prst="roundRect">
            <a:avLst>
              <a:gd name="adj" fmla="val 4615"/>
            </a:avLst>
          </a:prstGeom>
          <a:solidFill>
            <a:srgbClr val="F1F4F9"/>
          </a:solidFill>
          <a:ln w="12700">
            <a:solidFill>
              <a:srgbClr val="E2E8F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41248" y="5148072"/>
            <a:ext cx="293004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imaging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841248" y="5422392"/>
            <a:ext cx="293004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SunPy / aiapy pipeline: AIA level-1.5 preparation, HMI composites, difference imaging, multi-viewpoint reprojection and movie export.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429658" y="5029200"/>
            <a:ext cx="3332378" cy="1188720"/>
          </a:xfrm>
          <a:prstGeom prst="roundRect">
            <a:avLst>
              <a:gd name="adj" fmla="val 4615"/>
            </a:avLst>
          </a:prstGeom>
          <a:solidFill>
            <a:srgbClr val="F1F4F9"/>
          </a:solidFill>
          <a:ln w="12700">
            <a:solidFill>
              <a:srgbClr val="E2E8F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630826" y="5148072"/>
            <a:ext cx="293004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intensity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4630826" y="5422392"/>
            <a:ext cx="293004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curves, height–time and J-map measurements taken directly off the images and spectra.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219237" y="5029200"/>
            <a:ext cx="3332378" cy="1188720"/>
          </a:xfrm>
          <a:prstGeom prst="roundRect">
            <a:avLst>
              <a:gd name="adj" fmla="val 4615"/>
            </a:avLst>
          </a:prstGeom>
          <a:solidFill>
            <a:srgbClr val="F1F4F9"/>
          </a:solidFill>
          <a:ln w="12700">
            <a:solidFill>
              <a:srgbClr val="E2E8F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420405" y="5148072"/>
            <a:ext cx="293004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Archived datasets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8420405" y="5422392"/>
            <a:ext cx="293004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verified against archived observations, not only the live feed — the basis for the September prototype sign-off.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91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· MAY – SEPTEMBER 2026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911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1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Deliverables against the work plan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008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7A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ACCIMT · Space Applications Division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002975" y="640080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7A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57276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D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2194560" y="1572768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D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deliverable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8823960" y="1572768"/>
            <a:ext cx="2727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D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12064" y="1865376"/>
            <a:ext cx="11167567" cy="603504"/>
          </a:xfrm>
          <a:prstGeom prst="roundRect">
            <a:avLst>
              <a:gd name="adj" fmla="val 6061"/>
            </a:avLst>
          </a:prstGeom>
          <a:solidFill>
            <a:srgbClr val="F6F8FC"/>
          </a:solidFill>
          <a:ln w="12700">
            <a:solidFill>
              <a:srgbClr val="F6F8F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1956816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2194560" y="1947672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7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 summary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823960" y="2066544"/>
            <a:ext cx="146304" cy="146304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043416" y="1947672"/>
            <a:ext cx="250819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2624328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2194560" y="2615184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7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analysis, existing-setup documentation, system architecture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823960" y="2734056"/>
            <a:ext cx="146304" cy="146304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043416" y="2615184"/>
            <a:ext cx="250819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12064" y="3200400"/>
            <a:ext cx="11167567" cy="603504"/>
          </a:xfrm>
          <a:prstGeom prst="roundRect">
            <a:avLst>
              <a:gd name="adj" fmla="val 6061"/>
            </a:avLst>
          </a:prstGeom>
          <a:solidFill>
            <a:srgbClr val="F6F8FC"/>
          </a:solidFill>
          <a:ln w="12700">
            <a:solidFill>
              <a:srgbClr val="F6F8F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0080" y="329184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2194560" y="3282696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7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web interface for CALLISTO data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823960" y="3401568"/>
            <a:ext cx="146304" cy="146304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043416" y="3282696"/>
            <a:ext cx="250819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3959352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August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2194560" y="3950208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7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interface monitoring dashboard (CALLISTO + imaging)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823960" y="4069080"/>
            <a:ext cx="146304" cy="146304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043416" y="3950208"/>
            <a:ext cx="250819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12064" y="4535424"/>
            <a:ext cx="11167567" cy="603504"/>
          </a:xfrm>
          <a:prstGeom prst="roundRect">
            <a:avLst>
              <a:gd name="adj" fmla="val 6061"/>
            </a:avLst>
          </a:prstGeom>
          <a:solidFill>
            <a:srgbClr val="F6F8FC"/>
          </a:solidFill>
          <a:ln w="12700">
            <a:solidFill>
              <a:srgbClr val="F6F8FC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40080" y="4626864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2194560" y="4617720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7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monitoring prototype; imaging and intensity visualisation tools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8823960" y="4736592"/>
            <a:ext cx="146304" cy="146304"/>
          </a:xfrm>
          <a:prstGeom prst="ellipse">
            <a:avLst/>
          </a:prstGeom>
          <a:solidFill>
            <a:srgbClr val="E8912D"/>
          </a:solidFill>
          <a:ln w="12700">
            <a:solidFill>
              <a:srgbClr val="E8912D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9043416" y="4617720"/>
            <a:ext cx="250819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91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— H-alpha ingestion pending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640080" y="5294376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1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Ahead of plan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2194560" y="5285232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7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burst detection and classification (scheduled for November)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8823960" y="5404104"/>
            <a:ext cx="146304" cy="146304"/>
          </a:xfrm>
          <a:prstGeom prst="ellipse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9043416" y="5285232"/>
            <a:ext cx="250819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in the dashboard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640080" y="6053328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D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activity: astronomy and space-science workshops and night-sky observation programmes conducted as scheduled by the division.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24160" y="4937760"/>
            <a:ext cx="4206240" cy="4206240"/>
          </a:xfrm>
          <a:prstGeom prst="ellipse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6583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91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OCTOBER – DECEMBER 2026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987552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work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384048" cy="384048"/>
          </a:xfrm>
          <a:prstGeom prst="ellipse">
            <a:avLst/>
          </a:prstGeom>
          <a:solidFill>
            <a:srgbClr val="E8912D"/>
          </a:solidFill>
          <a:ln w="12700">
            <a:solidFill>
              <a:srgbClr val="E8912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874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170432" y="1892808"/>
            <a:ext cx="4696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H-alpha integration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170432" y="2203704"/>
            <a:ext cx="46968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E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the H-alpha imaging output and place it alongside the radio spectra on the common interface, completing the multi-wavelength view.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324448" y="1874520"/>
            <a:ext cx="384048" cy="384048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324448" y="1874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854800" y="1892808"/>
            <a:ext cx="4696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Simultaneous detection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854800" y="2203704"/>
            <a:ext cx="46968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E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Couple the AI burst detector to the space weather parameters so a radio burst, its flare and its CME are confirmed against each other automatically.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3401568"/>
            <a:ext cx="384048" cy="384048"/>
          </a:xfrm>
          <a:prstGeom prst="ellipse">
            <a:avLst/>
          </a:prstGeom>
          <a:solidFill>
            <a:srgbClr val="E8912D"/>
          </a:solidFill>
          <a:ln w="12700">
            <a:solidFill>
              <a:srgbClr val="E8912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" y="34015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170432" y="3419856"/>
            <a:ext cx="4696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operation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170432" y="3730752"/>
            <a:ext cx="46968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E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Harden the stack for unattended running: retention policy, restart recovery, source-health alerting and performance tuning under a full archive.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324448" y="3401568"/>
            <a:ext cx="384048" cy="384048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324448" y="34015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854800" y="3419856"/>
            <a:ext cx="4696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improvement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854800" y="3730752"/>
            <a:ext cx="46968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E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Retrain on locally observed ACCIMT events, extend typing beyond Type II / III, and report calibrated confidence.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" y="4928616"/>
            <a:ext cx="384048" cy="384048"/>
          </a:xfrm>
          <a:prstGeom prst="ellipse">
            <a:avLst/>
          </a:prstGeom>
          <a:solidFill>
            <a:srgbClr val="E8912D"/>
          </a:solidFill>
          <a:ln w="12700">
            <a:solidFill>
              <a:srgbClr val="E8912D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0080" y="49286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170432" y="4946904"/>
            <a:ext cx="4696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&amp; handover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1170432" y="5257800"/>
            <a:ext cx="46968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E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architecture, API and data-source documentation, operator guide, and deployment notes for the observatory machine.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324448" y="4928616"/>
            <a:ext cx="384048" cy="384048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324448" y="49286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6854800" y="4946904"/>
            <a:ext cx="4696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e-CALLISTO network link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6854800" y="5257800"/>
            <a:ext cx="46968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E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the station's data path for routine contribution to the global e-CALLISTO archive.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640080" y="6053328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891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a fully functional CALLISTO observation platform with multi-parameter space weather integration, documented end to end, by 31 December 2026.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ACCIMT Solar &amp; Space Weather Monitoring Dashboard — Progress Review</dc:title>
  <dc:subject>PptxGenJS Presentation</dc:subject>
  <dc:creator>G. L. S. S. Liyanage</dc:creator>
  <cp:lastModifiedBy>G. L. S. S. Liyanage</cp:lastModifiedBy>
  <cp:revision>1</cp:revision>
  <dcterms:created xsi:type="dcterms:W3CDTF">2026-09-14T04:04:06Z</dcterms:created>
  <dcterms:modified xsi:type="dcterms:W3CDTF">2026-09-14T04:04:06Z</dcterms:modified>
</cp:coreProperties>
</file>